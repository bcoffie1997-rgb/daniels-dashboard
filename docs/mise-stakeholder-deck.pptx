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'We pay for inventory software at three locations. The kitchen still counts on a spreadsheet. This is what we're going to fix.' Keep it to 60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dwell on the spreadsheet rant — they know. Land the 86 example as concrete: 'Three days stale means three days of guessing.' Pivot to: 'And we're already paying for the tool that was supposed to fix this.'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Toast quote out loud. Pause. 'That is what their own marketing department wrote.' Then: 'We don't need a better inventory product. We need one our cooks will open.' Don't argue feature-by-feature — argue adoption.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these four in order. The strongest is internet-dependent — Daniel's walk-ins are RF dead zones; Toast's mobile app doesn't promise offline sync. That alone justifies the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this live if possible — open the app on your phone and show the 30-second flow. If not, talk through steps 1–3 and say 'I'll show you on my phone after.'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proof we're not vapor. Three restaurants in one app, switching between them with one tap. If they ask 'is this real?' — pull up your phone, show the switcher.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Mockup of the live dashboard at /r/fort-lauderdale. Walk them through the four KPIs and explain what each one tells them. 'Avg variance over 4% gets red — that's a station that needs attention.'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screen at /r/fort-lauderdale/inventory. Show how the jump-nav chips at the top let a counter skip to the station they're at. The 'par' column is what we'll build alerts on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on #5. 'The xtraCHEF app on a phone in our walk-in does not sync reliably. We've tested it. Mise was built around the assumption it won't.'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$12k as 'we get to fund a real Toast integration with money we already spend'. Then frame the $330k as 'and the upside is the line item that pays for everything else'.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promise dates. Promise sequence. 'We do 01 and 02 first because everything else depends on the data they bring in.' If asked when v2 lands as a whole: 'realistic landing is 5–7 months from the day we kick off.'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Branden: fill X and Y with the group's actual COGS before this lands in any deck that leaves the room. A 1% improvement on $4M is $40k; on $8M is $80k. Get the real number and use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gloss over the adoption risk — it's the same one that killed xtraCHEF for us. The honest answer is: 'we measure usage every week and kill it if cooks won't open it.'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kill-criterion. Owners trust people who name their own off-ramp. 'If counters don't use it daily, we shut it down — no v2 conversation needed.'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quote, then silence. Let them speak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5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0"/>
            <a:ext cx="73152" cy="2286000"/>
          </a:xfrm>
          <a:prstGeom prst="rect">
            <a:avLst/>
          </a:prstGeom>
          <a:solidFill>
            <a:srgbClr val="C9A86B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GIOIA HOSPITALITY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0" dirty="0">
                <a:solidFill>
                  <a:srgbClr val="FFFDF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Mise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DF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Inventory operations for Daniel's Miami,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FFFDF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Daniel's Fort Lauderdale, and D's Sports Bar.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C9A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inside the kitchen.   ·   Counter-first.   ·   Multi-location from day one.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FD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Branden M.   · 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 TODAY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The walk-in lies</a:t>
            </a:r>
            <a:endParaRPr lang="en-US" sz="4800" dirty="0"/>
          </a:p>
          <a:p>
            <a:pPr indent="0" marL="0">
              <a:buNone/>
            </a:pPr>
            <a:r>
              <a:rPr lang="en-US" sz="48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to us every week.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5120640" cy="3200400"/>
          </a:xfrm>
          <a:prstGeom prst="rect">
            <a:avLst/>
          </a:prstGeom>
          <a:solidFill>
            <a:srgbClr val="F2F0EA"/>
          </a:solidFill>
          <a:ln w="12700">
            <a:solidFill>
              <a:srgbClr val="E8E4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3017520"/>
            <a:ext cx="54864" cy="3200400"/>
          </a:xfrm>
          <a:prstGeom prst="rect">
            <a:avLst/>
          </a:prstGeom>
          <a:solidFill>
            <a:srgbClr val="C9A86B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quarter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We 86'd two items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mid-service.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50749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6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spreadsheet showed both in stock.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E66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count was three days old. Nobody knew who counted last.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3108960"/>
            <a:ext cx="54864" cy="914400"/>
          </a:xfrm>
          <a:prstGeom prst="rect">
            <a:avLst/>
          </a:prstGeom>
          <a:solidFill>
            <a:srgbClr val="C9A86B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301752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Spreadsheets aren't accountable.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5080" y="347472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history of who entered what or when.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4206240"/>
            <a:ext cx="54864" cy="914400"/>
          </a:xfrm>
          <a:prstGeom prst="rect">
            <a:avLst/>
          </a:prstGeom>
          <a:solidFill>
            <a:srgbClr val="C9A86B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411480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Counts vary by who's holding the pen.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5080" y="457200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shelf, three different numbers across a week.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5303520"/>
            <a:ext cx="54864" cy="914400"/>
          </a:xfrm>
          <a:prstGeom prst="rect">
            <a:avLst/>
          </a:prstGeom>
          <a:solidFill>
            <a:srgbClr val="C9A86B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52120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 is caught in invoices, not at the walk-in.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5080" y="566928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the time accounting sees it, the loss is already booked.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Mise · Gioia Hospitality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ALREADY PAY FOR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We're paying $12,500 a year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for inventory we don't do.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5303520" cy="3108960"/>
          </a:xfrm>
          <a:prstGeom prst="rect">
            <a:avLst/>
          </a:prstGeom>
          <a:solidFill>
            <a:srgbClr val="004539"/>
          </a:solidFill>
          <a:ln w="12700">
            <a:solidFill>
              <a:srgbClr val="0045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Toast xtraCHEF Pro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3337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D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$349 / mo / location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886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2B7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  3 locations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4434840"/>
            <a:ext cx="4572000" cy="18288"/>
          </a:xfrm>
          <a:prstGeom prst="rect">
            <a:avLst/>
          </a:prstGeom>
          <a:solidFill>
            <a:srgbClr val="C9A86B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5720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8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$1,047 / mo  ·  ~$12,564 / year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5212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 for the inventory module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2743200"/>
            <a:ext cx="54864" cy="3108960"/>
          </a:xfrm>
          <a:prstGeom prst="rect">
            <a:avLst/>
          </a:prstGeom>
          <a:solidFill>
            <a:srgbClr val="C9A86B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743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Toast's own xtraCHEF page: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315468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“Turn inventory from a dreaded task into a strategic advantage.”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92240" y="47548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 sentence is the admission. Their marketing knows nobody opens xtraCHEF in the walk-in.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5394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5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Adoption failure — not feature failure.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pos.toasttab.com/products/xtrachef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TOAST LEAVES THE DOOR OPEN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Four cracks in the Toast wall.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5410048" cy="1737360"/>
          </a:xfrm>
          <a:prstGeom prst="rect">
            <a:avLst/>
          </a:prstGeom>
          <a:solidFill>
            <a:srgbClr val="F2F0EA"/>
          </a:solidFill>
          <a:ln w="12700">
            <a:solidFill>
              <a:srgbClr val="E8E4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743200"/>
            <a:ext cx="54864" cy="1737360"/>
          </a:xfrm>
          <a:prstGeom prst="rect">
            <a:avLst/>
          </a:prstGeom>
          <a:solidFill>
            <a:srgbClr val="C9A86B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880360"/>
            <a:ext cx="504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 LOCK-IN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50442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Toast: $899+ to start. 2–3 year contracts. Replacements must come from Toast.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504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045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Mise: Mise runs on any phone the cook already owns. No hardware, no contract.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33008" y="2743200"/>
            <a:ext cx="5410048" cy="1737360"/>
          </a:xfrm>
          <a:prstGeom prst="rect">
            <a:avLst/>
          </a:prstGeom>
          <a:solidFill>
            <a:srgbClr val="F2F0EA"/>
          </a:solidFill>
          <a:ln w="12700">
            <a:solidFill>
              <a:srgbClr val="E8E4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3008" y="2743200"/>
            <a:ext cx="54864" cy="1737360"/>
          </a:xfrm>
          <a:prstGeom prst="rect">
            <a:avLst/>
          </a:prstGeom>
          <a:solidFill>
            <a:srgbClr val="C9A86B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5888" y="2880360"/>
            <a:ext cx="504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INTERNET-DEPENDENT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15888" y="3200400"/>
            <a:ext cx="50442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Toast: If Wi-Fi drops, operations are hindered. Walk-ins kill signal.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15888" y="3794760"/>
            <a:ext cx="504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045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Mise: Mise is an offline-first PWA. Counts queue locally, sync when back online.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5410048" cy="1737360"/>
          </a:xfrm>
          <a:prstGeom prst="rect">
            <a:avLst/>
          </a:prstGeom>
          <a:solidFill>
            <a:srgbClr val="F2F0EA"/>
          </a:solidFill>
          <a:ln w="12700">
            <a:solidFill>
              <a:srgbClr val="E8E4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663440"/>
            <a:ext cx="54864" cy="1737360"/>
          </a:xfrm>
          <a:prstGeom prst="rect">
            <a:avLst/>
          </a:prstGeom>
          <a:solidFill>
            <a:srgbClr val="C9A86B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800600"/>
            <a:ext cx="504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5120640"/>
            <a:ext cx="50442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Toast: Weekend hold times of 40+ minutes are routine in user reviews.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5715000"/>
            <a:ext cx="504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045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Mise: Branden is on the line during service. White-glove pilot support.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33008" y="4663440"/>
            <a:ext cx="5410048" cy="1737360"/>
          </a:xfrm>
          <a:prstGeom prst="rect">
            <a:avLst/>
          </a:prstGeom>
          <a:solidFill>
            <a:srgbClr val="F2F0EA"/>
          </a:solidFill>
          <a:ln w="12700">
            <a:solidFill>
              <a:srgbClr val="E8E4D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3008" y="4663440"/>
            <a:ext cx="54864" cy="1737360"/>
          </a:xfrm>
          <a:prstGeom prst="rect">
            <a:avLst/>
          </a:prstGeom>
          <a:solidFill>
            <a:srgbClr val="C9A86B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5888" y="4800600"/>
            <a:ext cx="504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XTRACHEF UX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15888" y="5120640"/>
            <a:ext cx="50442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Toast: Built for owners and AP teams. Counts are configured in a browser.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15888" y="5715000"/>
            <a:ext cx="504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045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Mise: Designed for the counter in the walk-in. Tap-and-go in physical walk order.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Capterra &amp; G2 review aggregates · Toast support docs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MISE IS — 90 SECONDS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 10-minute walk-in task,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not a back-office project.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004539"/>
          </a:solidFill>
          <a:ln w="12700">
            <a:solidFill>
              <a:srgbClr val="0045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2588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Pick a station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663440" y="297180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Walk-in cooler, dry storage, bar — items are pre-sorted by physical walk order.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593592"/>
            <a:ext cx="502920" cy="502920"/>
          </a:xfrm>
          <a:prstGeom prst="ellipse">
            <a:avLst/>
          </a:prstGeom>
          <a:solidFill>
            <a:srgbClr val="004539"/>
          </a:solidFill>
          <a:ln w="12700">
            <a:solidFill>
              <a:srgbClr val="0045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593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25880" y="363931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Tap the count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63440" y="3685032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Previous count is right there. One hand. Gloves on. No keyboard.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306824"/>
            <a:ext cx="502920" cy="502920"/>
          </a:xfrm>
          <a:prstGeom prst="ellipse">
            <a:avLst/>
          </a:prstGeom>
          <a:solidFill>
            <a:srgbClr val="004539"/>
          </a:solidFill>
          <a:ln w="12700">
            <a:solidFill>
              <a:srgbClr val="0045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3068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25880" y="435254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Submit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63440" y="4398264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Chef sees variance immediately and approves — or rejects with a reason.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020056"/>
            <a:ext cx="502920" cy="502920"/>
          </a:xfrm>
          <a:prstGeom prst="ellipse">
            <a:avLst/>
          </a:prstGeom>
          <a:solidFill>
            <a:srgbClr val="004539"/>
          </a:solidFill>
          <a:ln w="12700">
            <a:solidFill>
              <a:srgbClr val="0045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0200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25880" y="506577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Sync when online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63440" y="5111496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Walk-in had no signal? Counts queue locally and sync on reconnect.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733288"/>
            <a:ext cx="502920" cy="502920"/>
          </a:xfrm>
          <a:prstGeom prst="ellipse">
            <a:avLst/>
          </a:prstGeom>
          <a:solidFill>
            <a:srgbClr val="004539"/>
          </a:solidFill>
          <a:ln w="12700">
            <a:solidFill>
              <a:srgbClr val="0045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733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25880" y="577900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Audit + export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663440" y="5824728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change attributed. CSV out to existing back-office. No rip-and-replace.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Mise · Gioia Hospitality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MULTI-LOCATION IS LIVE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Three brands. One platform.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No separate logins.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3576218" cy="109728"/>
          </a:xfrm>
          <a:prstGeom prst="rect">
            <a:avLst/>
          </a:prstGeom>
          <a:solidFill>
            <a:srgbClr val="E78F8E"/>
          </a:solidFill>
          <a:ln w="12700">
            <a:solidFill>
              <a:srgbClr val="E78F8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852928"/>
            <a:ext cx="3576218" cy="2999232"/>
          </a:xfrm>
          <a:prstGeom prst="rect">
            <a:avLst/>
          </a:prstGeom>
          <a:solidFill>
            <a:srgbClr val="004539"/>
          </a:solidFill>
          <a:ln w="12700">
            <a:solidFill>
              <a:srgbClr val="0045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108960"/>
            <a:ext cx="30275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DF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Daniel's Miami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30275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78F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Coral Gables, FL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4206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4434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D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194560" y="4206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94560" y="4434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D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5029200"/>
            <a:ext cx="30275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Refined steakhouse · caviar · raw bar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07738" y="2743200"/>
            <a:ext cx="3576218" cy="109728"/>
          </a:xfrm>
          <a:prstGeom prst="rect">
            <a:avLst/>
          </a:prstGeom>
          <a:solidFill>
            <a:srgbClr val="7BA890"/>
          </a:solidFill>
          <a:ln w="12700">
            <a:solidFill>
              <a:srgbClr val="7BA8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7738" y="2852928"/>
            <a:ext cx="3576218" cy="2999232"/>
          </a:xfrm>
          <a:prstGeom prst="rect">
            <a:avLst/>
          </a:prstGeom>
          <a:solidFill>
            <a:srgbClr val="004539"/>
          </a:solidFill>
          <a:ln w="12700">
            <a:solidFill>
              <a:srgbClr val="0045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82058" y="3108960"/>
            <a:ext cx="30275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DF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Daniel's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82058" y="3611880"/>
            <a:ext cx="30275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2B7A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 Florida Steakhouse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82058" y="3931920"/>
            <a:ext cx="30275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BA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Fort Lauderdale, FL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82058" y="4434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82058" y="4663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D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953658" y="4434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53658" y="4663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D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82058" y="5029200"/>
            <a:ext cx="30275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MICHELIN-recommended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66837" y="2743200"/>
            <a:ext cx="3576218" cy="109728"/>
          </a:xfrm>
          <a:prstGeom prst="rect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66837" y="2852928"/>
            <a:ext cx="3576218" cy="2999232"/>
          </a:xfrm>
          <a:prstGeom prst="rect">
            <a:avLst/>
          </a:prstGeom>
          <a:solidFill>
            <a:srgbClr val="004539"/>
          </a:solidFill>
          <a:ln w="12700">
            <a:solidFill>
              <a:srgbClr val="00453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41157" y="3108960"/>
            <a:ext cx="30275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DF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D's Sports Bar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341157" y="3703320"/>
            <a:ext cx="30275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4A2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Fort Lauderdale, FL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41157" y="4206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41157" y="4434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D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120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712757" y="4206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STATIONS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712757" y="4434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D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8341157" y="5029200"/>
            <a:ext cx="30275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Elevated game-day comfort food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Stations and items derived from each restaurant's actual public menu.  ·  Restaurant switcher and per-location dashboards live today.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at the project's Vercel URL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45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LOOKS LIKE — PER-LOCATION DASHBOARD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94415" cy="5120640"/>
          </a:xfrm>
          <a:prstGeom prst="rect">
            <a:avLst/>
          </a:prstGeom>
          <a:solidFill>
            <a:srgbClr val="0E1B17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05840"/>
            <a:ext cx="11094415" cy="457200"/>
          </a:xfrm>
          <a:prstGeom prst="rect">
            <a:avLst/>
          </a:prstGeom>
          <a:solidFill>
            <a:srgbClr val="15241F"/>
          </a:solidFill>
          <a:ln w="12700">
            <a:solidFill>
              <a:srgbClr val="1524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51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GIOIA · MISE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834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D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FORT LAUDERDALE  ▾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94415" cy="54864"/>
          </a:xfrm>
          <a:prstGeom prst="rect">
            <a:avLst/>
          </a:prstGeom>
          <a:solidFill>
            <a:srgbClr val="7BA890"/>
          </a:solidFill>
          <a:ln w="12700">
            <a:solidFill>
              <a:srgbClr val="7BA8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A8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FORT LAUDERDALE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DF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Daniel's, A Florida Steakhouse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005840" y="2514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MICHELIN-recommended Florida steakhouse · locally-sourced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3154680"/>
            <a:ext cx="2407844" cy="1188720"/>
          </a:xfrm>
          <a:prstGeom prst="rect">
            <a:avLst/>
          </a:prstGeom>
          <a:solidFill>
            <a:srgbClr val="15241F"/>
          </a:solidFill>
          <a:ln w="12700">
            <a:solidFill>
              <a:srgbClr val="2A3D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291840"/>
            <a:ext cx="20420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ITEMS TRACKED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88720" y="3611880"/>
            <a:ext cx="20420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D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95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188720" y="4023360"/>
            <a:ext cx="20420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3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stations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96564" y="3154680"/>
            <a:ext cx="2407844" cy="1188720"/>
          </a:xfrm>
          <a:prstGeom prst="rect">
            <a:avLst/>
          </a:prstGeom>
          <a:solidFill>
            <a:srgbClr val="15241F"/>
          </a:solidFill>
          <a:ln w="12700">
            <a:solidFill>
              <a:srgbClr val="2A3D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79444" y="3291840"/>
            <a:ext cx="20420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 APPROVALS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79444" y="3611880"/>
            <a:ext cx="20420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4A2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6187288" y="3154680"/>
            <a:ext cx="2407844" cy="1188720"/>
          </a:xfrm>
          <a:prstGeom prst="rect">
            <a:avLst/>
          </a:prstGeom>
          <a:solidFill>
            <a:srgbClr val="15241F"/>
          </a:solidFill>
          <a:ln w="12700">
            <a:solidFill>
              <a:srgbClr val="2A3D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0168" y="3291840"/>
            <a:ext cx="20420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VARIANCES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70168" y="3611880"/>
            <a:ext cx="20420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85A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8778011" y="3154680"/>
            <a:ext cx="2407844" cy="1188720"/>
          </a:xfrm>
          <a:prstGeom prst="rect">
            <a:avLst/>
          </a:prstGeom>
          <a:solidFill>
            <a:srgbClr val="15241F"/>
          </a:solidFill>
          <a:ln w="12700">
            <a:solidFill>
              <a:srgbClr val="2A3D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0891" y="3291840"/>
            <a:ext cx="20420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VARIANCE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960891" y="3611880"/>
            <a:ext cx="20420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7BA8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2.1%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005840" y="4526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05840" y="4846320"/>
            <a:ext cx="2453564" cy="502920"/>
          </a:xfrm>
          <a:prstGeom prst="rect">
            <a:avLst/>
          </a:prstGeom>
          <a:solidFill>
            <a:srgbClr val="15241F"/>
          </a:solidFill>
          <a:ln w="12700">
            <a:solidFill>
              <a:srgbClr val="2A3D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4846320"/>
            <a:ext cx="21792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D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Walk-in Cooler — Proteins · 16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596564" y="4846320"/>
            <a:ext cx="2453564" cy="502920"/>
          </a:xfrm>
          <a:prstGeom prst="rect">
            <a:avLst/>
          </a:prstGeom>
          <a:solidFill>
            <a:srgbClr val="15241F"/>
          </a:solidFill>
          <a:ln w="12700">
            <a:solidFill>
              <a:srgbClr val="2A3D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33724" y="4846320"/>
            <a:ext cx="21792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D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Walk-in Cooler — Seafood · 10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87288" y="4846320"/>
            <a:ext cx="2453564" cy="502920"/>
          </a:xfrm>
          <a:prstGeom prst="rect">
            <a:avLst/>
          </a:prstGeom>
          <a:solidFill>
            <a:srgbClr val="15241F"/>
          </a:solidFill>
          <a:ln w="12700">
            <a:solidFill>
              <a:srgbClr val="2A3D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24448" y="4846320"/>
            <a:ext cx="21792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D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Walk-in Cooler — Dairy &amp; Produce · 32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778011" y="4846320"/>
            <a:ext cx="2453564" cy="502920"/>
          </a:xfrm>
          <a:prstGeom prst="rect">
            <a:avLst/>
          </a:prstGeom>
          <a:solidFill>
            <a:srgbClr val="15241F"/>
          </a:solidFill>
          <a:ln w="12700">
            <a:solidFill>
              <a:srgbClr val="2A3D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15171" y="4846320"/>
            <a:ext cx="21792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D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Walk-in Freezer ·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05840" y="5440680"/>
            <a:ext cx="2453564" cy="502920"/>
          </a:xfrm>
          <a:prstGeom prst="rect">
            <a:avLst/>
          </a:prstGeom>
          <a:solidFill>
            <a:srgbClr val="15241F"/>
          </a:solidFill>
          <a:ln w="12700">
            <a:solidFill>
              <a:srgbClr val="2A3D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43000" y="5440680"/>
            <a:ext cx="21792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D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Dry Storage · 17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596564" y="5440680"/>
            <a:ext cx="2453564" cy="502920"/>
          </a:xfrm>
          <a:prstGeom prst="rect">
            <a:avLst/>
          </a:prstGeom>
          <a:solidFill>
            <a:srgbClr val="15241F"/>
          </a:solidFill>
          <a:ln w="12700">
            <a:solidFill>
              <a:srgbClr val="2A3D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33724" y="5440680"/>
            <a:ext cx="21792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D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 — Liquor · 10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87288" y="5440680"/>
            <a:ext cx="2453564" cy="502920"/>
          </a:xfrm>
          <a:prstGeom prst="rect">
            <a:avLst/>
          </a:prstGeom>
          <a:solidFill>
            <a:srgbClr val="15241F"/>
          </a:solidFill>
          <a:ln w="12700">
            <a:solidFill>
              <a:srgbClr val="2A3D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24448" y="5440680"/>
            <a:ext cx="21792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D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 — Wine &amp; Beer · 6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778011" y="5440680"/>
            <a:ext cx="2453564" cy="502920"/>
          </a:xfrm>
          <a:prstGeom prst="rect">
            <a:avLst/>
          </a:prstGeom>
          <a:solidFill>
            <a:srgbClr val="15241F"/>
          </a:solidFill>
          <a:ln w="12700">
            <a:solidFill>
              <a:srgbClr val="2A3D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15171" y="5440680"/>
            <a:ext cx="21792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D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Pastry &amp; Dessert · 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Per-location dashboard.  KPIs, where-to-look-first, station grid.  One tap to drill into any station.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9A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45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LOOKS LIKE — INVENTORY BY STATION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94415" cy="5120640"/>
          </a:xfrm>
          <a:prstGeom prst="rect">
            <a:avLst/>
          </a:prstGeom>
          <a:solidFill>
            <a:srgbClr val="0E1B17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05840"/>
            <a:ext cx="11094415" cy="502920"/>
          </a:xfrm>
          <a:prstGeom prst="rect">
            <a:avLst/>
          </a:prstGeom>
          <a:solidFill>
            <a:srgbClr val="15241F"/>
          </a:solidFill>
          <a:ln w="12700">
            <a:solidFill>
              <a:srgbClr val="1524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143000"/>
            <a:ext cx="3346704" cy="292608"/>
          </a:xfrm>
          <a:prstGeom prst="roundRect">
            <a:avLst>
              <a:gd name="adj" fmla="val 50000"/>
            </a:avLst>
          </a:prstGeom>
          <a:solidFill>
            <a:srgbClr val="15241F"/>
          </a:solidFill>
          <a:ln w="12700">
            <a:solidFill>
              <a:srgbClr val="2A3D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143000"/>
            <a:ext cx="3072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2B7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Cooler · Proteins 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279392" y="1143000"/>
            <a:ext cx="3200400" cy="292608"/>
          </a:xfrm>
          <a:prstGeom prst="roundRect">
            <a:avLst>
              <a:gd name="adj" fmla="val 50000"/>
            </a:avLst>
          </a:prstGeom>
          <a:solidFill>
            <a:srgbClr val="15241F"/>
          </a:solidFill>
          <a:ln w="12700">
            <a:solidFill>
              <a:srgbClr val="2A3D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16552" y="11430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2B7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Cooler · Seafood 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589520" y="1143000"/>
            <a:ext cx="4370832" cy="292608"/>
          </a:xfrm>
          <a:prstGeom prst="roundRect">
            <a:avLst>
              <a:gd name="adj" fmla="val 50000"/>
            </a:avLst>
          </a:prstGeom>
          <a:solidFill>
            <a:srgbClr val="15241F"/>
          </a:solidFill>
          <a:ln w="12700">
            <a:solidFill>
              <a:srgbClr val="2A3D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26680" y="1143000"/>
            <a:ext cx="4096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2B7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Cooler · Dairy &amp; Produce  32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070080" y="114300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5241F"/>
          </a:solidFill>
          <a:ln w="12700">
            <a:solidFill>
              <a:srgbClr val="2A3D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07240" y="11430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2B7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Freezer  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3917168" y="1143000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15241F"/>
          </a:solidFill>
          <a:ln w="12700">
            <a:solidFill>
              <a:srgbClr val="2A3D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054328" y="11430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2B7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Dry Storage  17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95776" y="1143000"/>
            <a:ext cx="2615184" cy="292608"/>
          </a:xfrm>
          <a:prstGeom prst="roundRect">
            <a:avLst>
              <a:gd name="adj" fmla="val 50000"/>
            </a:avLst>
          </a:prstGeom>
          <a:solidFill>
            <a:srgbClr val="15241F"/>
          </a:solidFill>
          <a:ln w="12700">
            <a:solidFill>
              <a:srgbClr val="2A3D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632936" y="1143000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2B7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 · Liquor  10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" y="1783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DF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Walk-in Cooler — Proteins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814255" y="1920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ITEMS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" y="24231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0" y="24231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589520" y="2423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45775" y="2423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05840" y="2743200"/>
            <a:ext cx="10180015" cy="18288"/>
          </a:xfrm>
          <a:prstGeom prst="rect">
            <a:avLst/>
          </a:prstGeom>
          <a:solidFill>
            <a:srgbClr val="2A3D35"/>
          </a:solidFill>
          <a:ln w="12700">
            <a:solidFill>
              <a:srgbClr val="2A3D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" y="2834640"/>
            <a:ext cx="10180015" cy="329184"/>
          </a:xfrm>
          <a:prstGeom prst="rect">
            <a:avLst/>
          </a:prstGeom>
          <a:solidFill>
            <a:srgbClr val="12201B"/>
          </a:solidFill>
          <a:ln w="12700">
            <a:solidFill>
              <a:srgbClr val="1220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283464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D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Demkota Prime Filet Mignon (8oz)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283464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Beef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89520" y="283464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545775" y="283464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D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05840" y="318211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D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Quincey Cattle Filet Mignon (12oz)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0" y="318211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Beef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589520" y="3182112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545775" y="3182112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D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05840" y="3529584"/>
            <a:ext cx="10180015" cy="329184"/>
          </a:xfrm>
          <a:prstGeom prst="rect">
            <a:avLst/>
          </a:prstGeom>
          <a:solidFill>
            <a:srgbClr val="12201B"/>
          </a:solidFill>
          <a:ln w="12700">
            <a:solidFill>
              <a:srgbClr val="12201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" y="3529584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D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Upper Iowa Prime NY Strip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0" y="352958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Beef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589520" y="3529584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lb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545775" y="352958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D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5840" y="3877056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D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Providence Grassfed Kansas City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43600" y="387705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Beef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589520" y="3877056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lb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545775" y="3877056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D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05840" y="4224528"/>
            <a:ext cx="10180015" cy="329184"/>
          </a:xfrm>
          <a:prstGeom prst="rect">
            <a:avLst/>
          </a:prstGeom>
          <a:solidFill>
            <a:srgbClr val="12201B"/>
          </a:solidFill>
          <a:ln w="12700">
            <a:solidFill>
              <a:srgbClr val="12201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05840" y="4224528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D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Margaret River Wagyu NY Strip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943600" y="422452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Beef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589520" y="422452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lb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545775" y="422452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D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05840" y="457200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D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Creekstone Dry-Aged Cowboy Ribeye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943600" y="457200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Beef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589520" y="457200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545775" y="457200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D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005840" y="4919472"/>
            <a:ext cx="10180015" cy="329184"/>
          </a:xfrm>
          <a:prstGeom prst="rect">
            <a:avLst/>
          </a:prstGeom>
          <a:solidFill>
            <a:srgbClr val="12201B"/>
          </a:solidFill>
          <a:ln w="12700">
            <a:solidFill>
              <a:srgbClr val="12201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" y="491947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D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Gundagai Lamb Chops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943600" y="491947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Lamb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589520" y="4919472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lb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545775" y="4919472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D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05840" y="5266944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D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Providence Short Rib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943600" y="526694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Beef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589520" y="5266944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lb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545775" y="526694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D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 grouped by station.  Sticky jump-nav to the cooler / freezer / bar you're standing at.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9A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COUNTERS WILL USE 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Five things Mise does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that the spreadsheet can't.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54864" cy="594360"/>
          </a:xfrm>
          <a:prstGeom prst="rect">
            <a:avLst/>
          </a:prstGeom>
          <a:solidFill>
            <a:srgbClr val="C9A86B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788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Physical walk order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3154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Items appear in the order you walk the cooler. Not a generic A-Z list configured from a desktop.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547872"/>
            <a:ext cx="54864" cy="594360"/>
          </a:xfrm>
          <a:prstGeom prst="rect">
            <a:avLst/>
          </a:prstGeom>
          <a:solidFill>
            <a:srgbClr val="C9A86B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5021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Previous count visible while counting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38679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flipping back to last week's sheet. Last value sits next to the input.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261104"/>
            <a:ext cx="54864" cy="594360"/>
          </a:xfrm>
          <a:prstGeom prst="rect">
            <a:avLst/>
          </a:prstGeom>
          <a:solidFill>
            <a:srgbClr val="C9A86B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21538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Submit → approve / reject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240" y="458114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Chef gates trust. Rejected counts come back with a reason — not silently overwritten.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974336"/>
            <a:ext cx="54864" cy="594360"/>
          </a:xfrm>
          <a:prstGeom prst="rect">
            <a:avLst/>
          </a:prstGeom>
          <a:solidFill>
            <a:srgbClr val="C9A86B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92861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Audit log on every change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77240" y="529437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edited what, when. Spreadsheets lose this the moment two people save.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687568"/>
            <a:ext cx="54864" cy="594360"/>
          </a:xfrm>
          <a:prstGeom prst="rect">
            <a:avLst/>
          </a:prstGeom>
          <a:solidFill>
            <a:srgbClr val="C9A86B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6418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Works in walk-ins without signal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240" y="600760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Counts queue locally, sync on reconnect. The PoS app can't do this.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five are live today at the FTL location.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DOLLAR CASE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The cheap side of the math.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697480"/>
            <a:ext cx="2636444" cy="1737360"/>
          </a:xfrm>
          <a:prstGeom prst="rect">
            <a:avLst/>
          </a:prstGeom>
          <a:solidFill>
            <a:srgbClr val="F2F0EA"/>
          </a:solidFill>
          <a:ln w="12700">
            <a:solidFill>
              <a:srgbClr val="E8E4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697480"/>
            <a:ext cx="54864" cy="1737360"/>
          </a:xfrm>
          <a:prstGeom prst="rect">
            <a:avLst/>
          </a:prstGeom>
          <a:solidFill>
            <a:srgbClr val="C9A86B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880360"/>
            <a:ext cx="22706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TOAST XTRACHEF PRO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22706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E1B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$1,047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22706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mo · 3 locations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67964" y="2697480"/>
            <a:ext cx="2636444" cy="1737360"/>
          </a:xfrm>
          <a:prstGeom prst="rect">
            <a:avLst/>
          </a:prstGeom>
          <a:solidFill>
            <a:srgbClr val="F2F0EA"/>
          </a:solidFill>
          <a:ln w="12700">
            <a:solidFill>
              <a:srgbClr val="E8E4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67964" y="2697480"/>
            <a:ext cx="54864" cy="1737360"/>
          </a:xfrm>
          <a:prstGeom prst="rect">
            <a:avLst/>
          </a:prstGeom>
          <a:solidFill>
            <a:srgbClr val="C9A86B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0844" y="2880360"/>
            <a:ext cx="22706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ANNUALIZED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50844" y="3200400"/>
            <a:ext cx="22706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E1B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$12,564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550844" y="4023360"/>
            <a:ext cx="22706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year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7288" y="2697480"/>
            <a:ext cx="2636444" cy="1737360"/>
          </a:xfrm>
          <a:prstGeom prst="rect">
            <a:avLst/>
          </a:prstGeom>
          <a:solidFill>
            <a:srgbClr val="F2F0EA"/>
          </a:solidFill>
          <a:ln w="12700">
            <a:solidFill>
              <a:srgbClr val="E8E4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7288" y="2697480"/>
            <a:ext cx="54864" cy="1737360"/>
          </a:xfrm>
          <a:prstGeom prst="rect">
            <a:avLst/>
          </a:prstGeom>
          <a:solidFill>
            <a:srgbClr val="C9A86B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0168" y="2880360"/>
            <a:ext cx="22706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MISE HOSTING (PILOT)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70168" y="3200400"/>
            <a:ext cx="22706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453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~$25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370168" y="4023360"/>
            <a:ext cx="22706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mo · all 3 locations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06611" y="2697480"/>
            <a:ext cx="2636444" cy="1737360"/>
          </a:xfrm>
          <a:prstGeom prst="rect">
            <a:avLst/>
          </a:prstGeom>
          <a:solidFill>
            <a:srgbClr val="004539"/>
          </a:solidFill>
          <a:ln w="12700">
            <a:solidFill>
              <a:srgbClr val="00453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06611" y="2697480"/>
            <a:ext cx="54864" cy="1737360"/>
          </a:xfrm>
          <a:prstGeom prst="rect">
            <a:avLst/>
          </a:prstGeom>
          <a:solidFill>
            <a:srgbClr val="C9A86B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9491" y="2880360"/>
            <a:ext cx="22706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DELTA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89491" y="3200400"/>
            <a:ext cx="22706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D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≈ $12,264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9189491" y="4023360"/>
            <a:ext cx="22706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2B7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year freed up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754880"/>
            <a:ext cx="11094415" cy="1371600"/>
          </a:xfrm>
          <a:prstGeom prst="rect">
            <a:avLst/>
          </a:prstGeom>
          <a:solidFill>
            <a:srgbClr val="004539"/>
          </a:solidFill>
          <a:ln w="12700">
            <a:solidFill>
              <a:srgbClr val="00453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754880"/>
            <a:ext cx="54864" cy="1371600"/>
          </a:xfrm>
          <a:prstGeom prst="rect">
            <a:avLst/>
          </a:prstGeom>
          <a:solidFill>
            <a:srgbClr val="C9A86B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937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bigger prize — adoption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521208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D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Underbelly Hospitality reduced food cost 3% with xtraCHEF 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D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$330,000/year savings. That prize requires the counts to actually happen.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D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Mise's wedge is making the counts happen. The annual subscription delta funds the v2 build that closes the AvT loop.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Toast case study, pos.toasttab.com/products/xtrachef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V2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What we build after the pilot.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3576218" cy="1508760"/>
          </a:xfrm>
          <a:prstGeom prst="rect">
            <a:avLst/>
          </a:prstGeom>
          <a:solidFill>
            <a:srgbClr val="F2F0EA"/>
          </a:solidFill>
          <a:ln w="12700">
            <a:solidFill>
              <a:srgbClr val="E8E4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743200"/>
            <a:ext cx="54864" cy="1508760"/>
          </a:xfrm>
          <a:prstGeom prst="rect">
            <a:avLst/>
          </a:prstGeom>
          <a:solidFill>
            <a:srgbClr val="C9A86B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880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61818" y="28803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4–6 wks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3210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Toast POS sync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32104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Read-only feed of sales by item. Foundation for AvT.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07738" y="2743200"/>
            <a:ext cx="3576218" cy="1508760"/>
          </a:xfrm>
          <a:prstGeom prst="rect">
            <a:avLst/>
          </a:prstGeom>
          <a:solidFill>
            <a:srgbClr val="F2F0EA"/>
          </a:solidFill>
          <a:ln w="12700">
            <a:solidFill>
              <a:srgbClr val="E8E4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07738" y="2743200"/>
            <a:ext cx="54864" cy="1508760"/>
          </a:xfrm>
          <a:prstGeom prst="rect">
            <a:avLst/>
          </a:prstGeom>
          <a:solidFill>
            <a:srgbClr val="C9A86B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0618" y="2880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0917" y="28803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4–8 wks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90618" y="3200400"/>
            <a:ext cx="3210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Invoice OCR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490618" y="3657600"/>
            <a:ext cx="32104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Email-to-inbox + Document AI extraction. Cost data into Mise.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66837" y="2743200"/>
            <a:ext cx="3576218" cy="1508760"/>
          </a:xfrm>
          <a:prstGeom prst="rect">
            <a:avLst/>
          </a:prstGeom>
          <a:solidFill>
            <a:srgbClr val="F2F0EA"/>
          </a:solidFill>
          <a:ln w="12700">
            <a:solidFill>
              <a:srgbClr val="E8E4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66837" y="2743200"/>
            <a:ext cx="54864" cy="1508760"/>
          </a:xfrm>
          <a:prstGeom prst="rect">
            <a:avLst/>
          </a:prstGeom>
          <a:solidFill>
            <a:srgbClr val="C9A86B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49717" y="2880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180015" y="28803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8–12 wks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49717" y="3200400"/>
            <a:ext cx="3210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Recipe builder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249717" y="3657600"/>
            <a:ext cx="32104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Chef maps menu dishes to inventory items and yields.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480560"/>
            <a:ext cx="3576218" cy="1508760"/>
          </a:xfrm>
          <a:prstGeom prst="rect">
            <a:avLst/>
          </a:prstGeom>
          <a:solidFill>
            <a:srgbClr val="F2F0EA"/>
          </a:solidFill>
          <a:ln w="12700">
            <a:solidFill>
              <a:srgbClr val="E8E4D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480560"/>
            <a:ext cx="54864" cy="1508760"/>
          </a:xfrm>
          <a:prstGeom prst="rect">
            <a:avLst/>
          </a:prstGeom>
          <a:solidFill>
            <a:srgbClr val="C9A86B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6177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61818" y="4617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2–4 wks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937760"/>
            <a:ext cx="3210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AvT dashboard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1520" y="5394960"/>
            <a:ext cx="32104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Theoretical vs actual usage. Waste, theft, shrink %.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07738" y="4480560"/>
            <a:ext cx="3576218" cy="1508760"/>
          </a:xfrm>
          <a:prstGeom prst="rect">
            <a:avLst/>
          </a:prstGeom>
          <a:solidFill>
            <a:srgbClr val="F2F0EA"/>
          </a:solidFill>
          <a:ln w="12700">
            <a:solidFill>
              <a:srgbClr val="E8E4D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07738" y="4480560"/>
            <a:ext cx="54864" cy="1508760"/>
          </a:xfrm>
          <a:prstGeom prst="rect">
            <a:avLst/>
          </a:prstGeom>
          <a:solidFill>
            <a:srgbClr val="C9A86B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90618" y="46177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20917" y="4617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1–2 wks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90618" y="4937760"/>
            <a:ext cx="3210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Below-par alerts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490618" y="5394960"/>
            <a:ext cx="32104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already store par. Notify purchaser before the gap.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066837" y="4480560"/>
            <a:ext cx="3576218" cy="1508760"/>
          </a:xfrm>
          <a:prstGeom prst="rect">
            <a:avLst/>
          </a:prstGeom>
          <a:solidFill>
            <a:srgbClr val="F2F0EA"/>
          </a:solidFill>
          <a:ln w="12700">
            <a:solidFill>
              <a:srgbClr val="E8E4D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66837" y="4480560"/>
            <a:ext cx="54864" cy="1508760"/>
          </a:xfrm>
          <a:prstGeom prst="rect">
            <a:avLst/>
          </a:prstGeom>
          <a:solidFill>
            <a:srgbClr val="C9A86B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49717" y="46177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180015" y="4617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2–3 wks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49717" y="4937760"/>
            <a:ext cx="3210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Photo + 2-person count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8249717" y="5394960"/>
            <a:ext cx="32104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features for high-value items (wagyu, caviar, top-shelf).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Rank-ordered. Each item gates the next.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 THE LOOP — THE AVT MATH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Three streams. One equation.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1094415" cy="2011680"/>
          </a:xfrm>
          <a:prstGeom prst="rect">
            <a:avLst/>
          </a:prstGeom>
          <a:solidFill>
            <a:srgbClr val="004539"/>
          </a:solidFill>
          <a:ln w="12700">
            <a:solidFill>
              <a:srgbClr val="0045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743200"/>
            <a:ext cx="54864" cy="2011680"/>
          </a:xfrm>
          <a:prstGeom prst="rect">
            <a:avLst/>
          </a:prstGeom>
          <a:solidFill>
            <a:srgbClr val="C9A86B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063240"/>
            <a:ext cx="32714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TOAST SALES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32714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DF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× recipes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32714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2B7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theoretical usage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60138" y="3063240"/>
            <a:ext cx="32714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MISE COUNT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60138" y="3429000"/>
            <a:ext cx="32714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DF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physical inventory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460138" y="4023360"/>
            <a:ext cx="32714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2B7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actual usage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05877" y="3063240"/>
            <a:ext cx="32714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05877" y="3429000"/>
            <a:ext cx="32714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DF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actual − theoretical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005877" y="4023360"/>
            <a:ext cx="32714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2B7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waste, theft, shrink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983480"/>
            <a:ext cx="11094415" cy="1280160"/>
          </a:xfrm>
          <a:prstGeom prst="rect">
            <a:avLst/>
          </a:prstGeom>
          <a:solidFill>
            <a:srgbClr val="F2F0EA"/>
          </a:solidFill>
          <a:ln w="12700">
            <a:solidFill>
              <a:srgbClr val="E8E4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983480"/>
            <a:ext cx="54864" cy="1280160"/>
          </a:xfrm>
          <a:prstGeom prst="rect">
            <a:avLst/>
          </a:prstGeom>
          <a:solidFill>
            <a:srgbClr val="C9A86B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120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we close 1% of food cost across the group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5440680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At  $X  annual COGS  →  $Y / year recovered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22960" y="598932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5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fill X and Y with Gioia's real FY numbers before presenting 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Worked example — replace with actual COGS before sending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CAN GO WRONG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Three honest risks.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788920"/>
            <a:ext cx="11094415" cy="1051560"/>
          </a:xfrm>
          <a:prstGeom prst="rect">
            <a:avLst/>
          </a:prstGeom>
          <a:solidFill>
            <a:srgbClr val="F2F0EA"/>
          </a:solidFill>
          <a:ln w="12700">
            <a:solidFill>
              <a:srgbClr val="E8E4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788920"/>
            <a:ext cx="54864" cy="1051560"/>
          </a:xfrm>
          <a:prstGeom prst="rect">
            <a:avLst/>
          </a:prstGeom>
          <a:solidFill>
            <a:srgbClr val="C9A86B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ADOPTION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Counters have to actually use it daily. Same risk that broke xtraCHEF.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502152"/>
            <a:ext cx="106372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Mitigation:  Pilot at FTL first. Branden on the line for the first 4 weeks. Measure logins, completed sessions, time-per-station in PostHog.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4005072"/>
            <a:ext cx="11094415" cy="1051560"/>
          </a:xfrm>
          <a:prstGeom prst="rect">
            <a:avLst/>
          </a:prstGeom>
          <a:solidFill>
            <a:srgbClr val="F2F0EA"/>
          </a:solidFill>
          <a:ln w="12700">
            <a:solidFill>
              <a:srgbClr val="E8E4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005072"/>
            <a:ext cx="54864" cy="1051560"/>
          </a:xfrm>
          <a:prstGeom prst="rect">
            <a:avLst/>
          </a:prstGeom>
          <a:solidFill>
            <a:srgbClr val="C9A86B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1422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4416552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Garbage counts in = garbage variance out. Bad seed pars destroy trust.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4718304"/>
            <a:ext cx="106372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Mitigation:  Two-person verification on high-value items (wagyu, caviar, top-shelf). Manager rejects counts &gt; 25% variance with required reason.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221224"/>
            <a:ext cx="11094415" cy="1051560"/>
          </a:xfrm>
          <a:prstGeom prst="rect">
            <a:avLst/>
          </a:prstGeom>
          <a:solidFill>
            <a:srgbClr val="F2F0EA"/>
          </a:solidFill>
          <a:ln w="12700">
            <a:solidFill>
              <a:srgbClr val="E8E4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5221224"/>
            <a:ext cx="54864" cy="1051560"/>
          </a:xfrm>
          <a:prstGeom prst="rect">
            <a:avLst/>
          </a:prstGeom>
          <a:solidFill>
            <a:srgbClr val="C9A86B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35838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TOAST INTEGRATION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5632704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B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AvT depends on Toast Partner API access. Enrollment takes ~2 weeks.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5934456"/>
            <a:ext cx="106372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Mitigation:  Branden initiates Partner API enrollment in week 1 of pilot. If denied, AvT pushes to v3 — pilot still proves out counter UX.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Mise · Gioia Hospitality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WE'RE ASKING FOR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Three decisions today.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697480"/>
            <a:ext cx="640080" cy="640080"/>
          </a:xfrm>
          <a:prstGeom prst="ellipse">
            <a:avLst/>
          </a:prstGeom>
          <a:solidFill>
            <a:srgbClr val="004539"/>
          </a:solidFill>
          <a:ln w="12700">
            <a:solidFill>
              <a:srgbClr val="0045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2651760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Greenlight a 4-week pilot at Daniel's Fort Lauderdale.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63040" y="3108960"/>
            <a:ext cx="102714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counts replace the spreadsheet. Branden runs counter onboarding and the daily session review. Cost: ~$25/mo hosting.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640080" cy="640080"/>
          </a:xfrm>
          <a:prstGeom prst="ellipse">
            <a:avLst/>
          </a:prstGeom>
          <a:solidFill>
            <a:srgbClr val="004539"/>
          </a:solidFill>
          <a:ln w="12700">
            <a:solidFill>
              <a:srgbClr val="0045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3931920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Initiate Toast Partner API enrollment.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63040" y="4389120"/>
            <a:ext cx="102714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 weeks lead time. Required for v2. Branden owns the application. No commitment to v2 yet — this just keeps the door open.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257800"/>
            <a:ext cx="640080" cy="640080"/>
          </a:xfrm>
          <a:prstGeom prst="ellipse">
            <a:avLst/>
          </a:prstGeom>
          <a:solidFill>
            <a:srgbClr val="004539"/>
          </a:solidFill>
          <a:ln w="12700">
            <a:solidFill>
              <a:srgbClr val="0045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257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5212080"/>
            <a:ext cx="10271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E1B1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30-day decision on v2 build, gated on pilot adoption metrics.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63040" y="5669280"/>
            <a:ext cx="102714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counters use Mise daily and variance drops, we fund v2 with the xtraCHEF savings. If not, we kill it without sunk cost.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yes — pilot starts Monday.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45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0"/>
            <a:ext cx="11094415" cy="2377440"/>
          </a:xfrm>
          <a:prstGeom prst="rect">
            <a:avLst/>
          </a:prstGeom>
          <a:solidFill>
            <a:srgbClr val="C9A86B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i="1" dirty="0">
                <a:solidFill>
                  <a:srgbClr val="004539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xtraCHEF is what accounting uses.</a:t>
            </a:r>
            <a:endParaRPr lang="en-US" sz="4600" dirty="0"/>
          </a:p>
          <a:p>
            <a:pPr algn="ctr" indent="0" marL="0">
              <a:buNone/>
            </a:pPr>
            <a:r>
              <a:rPr lang="en-US" sz="4600" i="1" dirty="0">
                <a:solidFill>
                  <a:srgbClr val="004539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Mise is what cooks use.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0"/>
            <a:ext cx="54864" cy="1005840"/>
          </a:xfrm>
          <a:prstGeom prst="rect">
            <a:avLst/>
          </a:prstGeom>
          <a:solidFill>
            <a:srgbClr val="C9A86B"/>
          </a:solidFill>
          <a:ln w="12700">
            <a:solidFill>
              <a:srgbClr val="C9A8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5029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D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by Branden M. for Gioia Hospitality Group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5440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spc="300" kern="0" dirty="0">
                <a:solidFill>
                  <a:srgbClr val="9F96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Daniel's Miami  ·  Daniel's Fort Lauderdale  ·  D's Sports Bar  · 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9A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Gioia Hospitality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Mise — Gioia Hospitality Inventory Operations</dc:title>
  <dc:subject>PptxGenJS Presentation</dc:subject>
  <dc:creator>Branden M.</dc:creator>
  <cp:lastModifiedBy>Branden M.</cp:lastModifiedBy>
  <cp:revision>1</cp:revision>
  <dcterms:created xsi:type="dcterms:W3CDTF">2026-05-21T21:49:42Z</dcterms:created>
  <dcterms:modified xsi:type="dcterms:W3CDTF">2026-05-21T21:49:42Z</dcterms:modified>
</cp:coreProperties>
</file>